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rts/chart1.xml" ContentType="application/vnd.openxmlformats-officedocument.drawingml.chart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rts/chart2.xml" ContentType="application/vnd.openxmlformats-officedocument.drawingml.chart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8" r:id="rId8"/>
    <p:sldId id="262" r:id="rId9"/>
    <p:sldId id="263" r:id="rId10"/>
    <p:sldId id="264" r:id="rId11"/>
    <p:sldId id="265" r:id="rId12"/>
    <p:sldId id="266" r:id="rId13"/>
    <p:sldId id="267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0" d="100"/>
          <a:sy n="70" d="100"/>
        </p:scale>
        <p:origin x="512" y="5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20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ohith varma Yarramshetty" userId="d0b6a84400523940" providerId="LiveId" clId="{6B96B651-7A6C-4D83-99A8-8694AA70980E}"/>
    <pc:docChg chg="modSld">
      <pc:chgData name="Rohith varma Yarramshetty" userId="d0b6a84400523940" providerId="LiveId" clId="{6B96B651-7A6C-4D83-99A8-8694AA70980E}" dt="2026-10-15T23:28:56.469" v="25" actId="20577"/>
      <pc:docMkLst>
        <pc:docMk/>
      </pc:docMkLst>
      <pc:sldChg chg="modSp mod">
        <pc:chgData name="Rohith varma Yarramshetty" userId="d0b6a84400523940" providerId="LiveId" clId="{6B96B651-7A6C-4D83-99A8-8694AA70980E}" dt="2026-10-15T23:28:56.469" v="25" actId="20577"/>
        <pc:sldMkLst>
          <pc:docMk/>
          <pc:sldMk cId="0" sldId="257"/>
        </pc:sldMkLst>
        <pc:spChg chg="mod">
          <ac:chgData name="Rohith varma Yarramshetty" userId="d0b6a84400523940" providerId="LiveId" clId="{6B96B651-7A6C-4D83-99A8-8694AA70980E}" dt="2026-10-15T23:28:56.469" v="25" actId="20577"/>
          <ac:spMkLst>
            <pc:docMk/>
            <pc:sldMk cId="0" sldId="257"/>
            <ac:spMk id="2" creationId="{00000000-0000-0000-0000-000000000000}"/>
          </ac:spMkLst>
        </pc:spChg>
      </pc:sldChg>
    </pc:docChg>
  </pc:docChgLst>
</pc:chgInfo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bar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Number of records</c:v>
                </c:pt>
              </c:strCache>
            </c:strRef>
          </c:tx>
          <c:spPr>
            <a:solidFill>
              <a:srgbClr val="356991"/>
            </a:solidFill>
          </c:spPr>
          <c:invertIfNegative val="1"/>
          <c:dLbls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300"/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Non-severe</c:v>
                </c:pt>
                <c:pt idx="1">
                  <c:v>Severe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312849</c:v>
                </c:pt>
                <c:pt idx="1">
                  <c:v>48823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0-604E-4DC7-9DDE-B799A3D7B6B4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numFmt formatCode="General" sourceLinked="0"/>
        <c:majorTickMark val="out"/>
        <c:minorTickMark val="none"/>
        <c:tickLblPos val="nextTo"/>
        <c:txPr>
          <a:bodyPr/>
          <a:lstStyle/>
          <a:p>
            <a:pPr>
              <a:defRPr sz="1400"/>
            </a:pPr>
            <a:endParaRPr lang="en-US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</c:scaling>
        <c:delete val="0"/>
        <c:axPos val="b"/>
        <c:majorGridlines/>
        <c:title>
          <c:tx>
            <c:rich>
              <a:bodyPr/>
              <a:lstStyle/>
              <a:p>
                <a:r>
                  <a:rPr lang="en-US"/>
                  <a:t>Number of records</a:t>
                </a:r>
              </a:p>
            </c:rich>
          </c:tx>
          <c:overlay val="0"/>
        </c:title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1200"/>
            </a:pPr>
            <a:endParaRPr lang="en-US"/>
          </a:p>
        </c:txPr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0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Logistic Regression</c:v>
                </c:pt>
              </c:strCache>
            </c:strRef>
          </c:tx>
          <c:spPr>
            <a:solidFill>
              <a:srgbClr val="356991"/>
            </a:solidFill>
          </c:spPr>
          <c:invertIfNegative val="1"/>
          <c:cat>
            <c:strRef>
              <c:f>Sheet1!$A$2:$A$5</c:f>
              <c:strCache>
                <c:ptCount val="4"/>
                <c:pt idx="0">
                  <c:v>Accuracy</c:v>
                </c:pt>
                <c:pt idx="1">
                  <c:v>Precision</c:v>
                </c:pt>
                <c:pt idx="2">
                  <c:v>Recall</c:v>
                </c:pt>
                <c:pt idx="3">
                  <c:v>F1-score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69.56</c:v>
                </c:pt>
                <c:pt idx="1">
                  <c:v>26.37</c:v>
                </c:pt>
                <c:pt idx="2">
                  <c:v>69.989999999999995</c:v>
                </c:pt>
                <c:pt idx="3">
                  <c:v>38.299999999999997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0-154E-4E86-965D-8248798888CA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Random Forest</c:v>
                </c:pt>
              </c:strCache>
            </c:strRef>
          </c:tx>
          <c:spPr>
            <a:solidFill>
              <a:srgbClr val="919191"/>
            </a:solidFill>
          </c:spPr>
          <c:invertIfNegative val="1"/>
          <c:cat>
            <c:strRef>
              <c:f>Sheet1!$A$2:$A$5</c:f>
              <c:strCache>
                <c:ptCount val="4"/>
                <c:pt idx="0">
                  <c:v>Accuracy</c:v>
                </c:pt>
                <c:pt idx="1">
                  <c:v>Precision</c:v>
                </c:pt>
                <c:pt idx="2">
                  <c:v>Recall</c:v>
                </c:pt>
                <c:pt idx="3">
                  <c:v>F1-score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84.24</c:v>
                </c:pt>
                <c:pt idx="1">
                  <c:v>40.76</c:v>
                </c:pt>
                <c:pt idx="2">
                  <c:v>37.01</c:v>
                </c:pt>
                <c:pt idx="3">
                  <c:v>38.799999999999997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1-154E-4E86-965D-8248798888C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txPr>
          <a:bodyPr/>
          <a:lstStyle/>
          <a:p>
            <a:pPr>
              <a:defRPr sz="1300"/>
            </a:pPr>
            <a:endParaRPr lang="en-US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  <c:max val="100"/>
          <c:min val="0"/>
        </c:scaling>
        <c:delete val="0"/>
        <c:axPos val="l"/>
        <c:majorGridlines/>
        <c:title>
          <c:tx>
            <c:rich>
              <a:bodyPr/>
              <a:lstStyle/>
              <a:p>
                <a:r>
                  <a:rPr lang="en-US"/>
                  <a:t>Percent</a:t>
                </a:r>
              </a:p>
            </c:rich>
          </c:tx>
          <c:overlay val="0"/>
        </c:title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1200"/>
            </a:pPr>
            <a:endParaRPr lang="en-US"/>
          </a:p>
        </c:txPr>
        <c:crossAx val="-2068027336"/>
        <c:crosses val="autoZero"/>
        <c:crossBetween val="between"/>
      </c:valAx>
    </c:plotArea>
    <c:legend>
      <c:legendPos val="b"/>
      <c:overlay val="1"/>
      <c:txPr>
        <a:bodyPr/>
        <a:lstStyle/>
        <a:p>
          <a:pPr>
            <a:defRPr sz="1200"/>
          </a:pPr>
          <a:endParaRPr lang="en-US"/>
        </a:p>
      </c:txPr>
    </c:legend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295281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About 45 seconds. Say the project title and your name.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About 1 minute. Describe the project in plain language.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About 1 minute. Explain the problem and research question.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About 1 minute. Name CPSC NEISS and describe what the records contain.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About 1.5 minutes. Explain cleaning, age groups, target creation, and median imputation. Verify disposition-code meaning if asked.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About 1 minute. Explain that the target is imbalanced: only 48,823 records are labeled severe.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About 1 minute. Explain both models and the train/test split.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About 2 minutes. Walk through the metric chart. Logistic Regression recall is about 70%, Random Forest about 37%.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About 1.5 minutes. Explain why recall mattered for your project, and acknowledge false positives.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About 1.5 minutes. Explain the actual redesigned chart from Week 5. Rates are unweighted.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About 1.5 minutes. Be honest about limitations and future improvements.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Use only if asked how the chart was improved: clearer title, percentage units, labels, and zero baseline.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22960" y="1417320"/>
            <a:ext cx="10515600" cy="1417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32323"/>
                </a:solidFill>
                <a:latin typeface="Arial"/>
              </a:defRPr>
            </a:pPr>
            <a:r>
              <a:t>Product Safety: What Sends People to the 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2926080"/>
            <a:ext cx="98755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646464"/>
                </a:solidFill>
                <a:latin typeface="Arial"/>
              </a:defRPr>
            </a:pPr>
            <a:r>
              <a:t>Predicting severe consumer product-related injuries using CPSC NEISS data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4754880"/>
            <a:ext cx="6400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232323"/>
                </a:solidFill>
                <a:latin typeface="Arial"/>
              </a:defRPr>
            </a:pPr>
            <a:r>
              <a:t>Rohith Yarramshetty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510528"/>
            <a:ext cx="91440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6464"/>
                </a:solidFill>
                <a:latin typeface="Arial"/>
              </a:defRPr>
            </a:pPr>
            <a:r>
              <a:t>Product Safety: What Sends People to the 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92240"/>
            <a:ext cx="5029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46464"/>
                </a:solidFill>
                <a:latin typeface="Arial"/>
              </a:defRPr>
            </a:pPr>
            <a: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09600" y="338328"/>
            <a:ext cx="2401619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232323"/>
                </a:solidFill>
                <a:latin typeface="Arial"/>
              </a:defRPr>
            </a:pPr>
            <a:r>
              <a:rPr lang="en-US" dirty="0"/>
              <a:t>Introduction:</a:t>
            </a:r>
            <a:endParaRPr dirty="0"/>
          </a:p>
        </p:txBody>
      </p:sp>
      <p:sp>
        <p:nvSpPr>
          <p:cNvPr id="3" name="TextBox 2"/>
          <p:cNvSpPr txBox="1"/>
          <p:nvPr/>
        </p:nvSpPr>
        <p:spPr>
          <a:xfrm>
            <a:off x="658368" y="914400"/>
            <a:ext cx="1078992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646464"/>
                </a:solidFill>
                <a:latin typeface="Arial"/>
              </a:defRPr>
            </a:pPr>
            <a:r>
              <a:t>What I wanted to understand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307592"/>
            <a:ext cx="640080" cy="32004"/>
          </a:xfrm>
          <a:prstGeom prst="rect">
            <a:avLst/>
          </a:prstGeom>
          <a:solidFill>
            <a:srgbClr val="3569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22960" y="1691640"/>
            <a:ext cx="10515600" cy="4297680"/>
          </a:xfrm>
          <a:prstGeom prst="rect">
            <a:avLst/>
          </a:prstGeom>
          <a:noFill/>
        </p:spPr>
        <p:txBody>
          <a:bodyPr wrap="square" lIns="45720">
            <a:spAutoFit/>
          </a:bodyPr>
          <a:lstStyle/>
          <a:p>
            <a:pPr>
              <a:spcAft>
                <a:spcPts val="1700"/>
              </a:spcAft>
              <a:defRPr sz="2100">
                <a:solidFill>
                  <a:srgbClr val="232323"/>
                </a:solidFill>
                <a:latin typeface="Arial"/>
              </a:defRPr>
            </a:pPr>
            <a:r>
              <a:t>I analyzed consumer product-related injuries treated in emergency departments.</a:t>
            </a:r>
          </a:p>
          <a:p>
            <a:pPr>
              <a:spcAft>
                <a:spcPts val="1700"/>
              </a:spcAft>
              <a:defRPr sz="2100">
                <a:solidFill>
                  <a:srgbClr val="232323"/>
                </a:solidFill>
                <a:latin typeface="Arial"/>
              </a:defRPr>
            </a:pPr>
            <a:r>
              <a:t>I looked for patterns linked to severe injuries.</a:t>
            </a:r>
          </a:p>
          <a:p>
            <a:pPr>
              <a:spcAft>
                <a:spcPts val="1700"/>
              </a:spcAft>
              <a:defRPr sz="2100">
                <a:solidFill>
                  <a:srgbClr val="232323"/>
                </a:solidFill>
                <a:latin typeface="Arial"/>
              </a:defRPr>
            </a:pPr>
            <a:r>
              <a:t>I built two models to classify injury records as severe or non-severe.</a:t>
            </a:r>
          </a:p>
          <a:p>
            <a:pPr>
              <a:spcAft>
                <a:spcPts val="1700"/>
              </a:spcAft>
              <a:defRPr sz="2100">
                <a:solidFill>
                  <a:srgbClr val="232323"/>
                </a:solidFill>
                <a:latin typeface="Arial"/>
              </a:defRPr>
            </a:pPr>
            <a:r>
              <a:t>My main finding was that older adults had the highest observed severe-injury rate in the age groups I analyzed.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6510528"/>
            <a:ext cx="91440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6464"/>
                </a:solidFill>
                <a:latin typeface="Arial"/>
              </a:defRPr>
            </a:pPr>
            <a:r>
              <a:t>Product Safety: What Sends People to the 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92240"/>
            <a:ext cx="5029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46464"/>
                </a:solidFill>
                <a:latin typeface="Arial"/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65760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232323"/>
                </a:solidFill>
                <a:latin typeface="Arial"/>
              </a:defRPr>
            </a:pPr>
            <a:r>
              <a:t>Problem statement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914400"/>
            <a:ext cx="1078992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646464"/>
                </a:solidFill>
                <a:latin typeface="Arial"/>
              </a:defRPr>
            </a:pPr>
            <a:r>
              <a:t>Why this question matters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307592"/>
            <a:ext cx="640080" cy="32004"/>
          </a:xfrm>
          <a:prstGeom prst="rect">
            <a:avLst/>
          </a:prstGeom>
          <a:solidFill>
            <a:srgbClr val="3569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22960" y="1691640"/>
            <a:ext cx="10515600" cy="4297680"/>
          </a:xfrm>
          <a:prstGeom prst="rect">
            <a:avLst/>
          </a:prstGeom>
          <a:noFill/>
        </p:spPr>
        <p:txBody>
          <a:bodyPr wrap="square" lIns="45720">
            <a:spAutoFit/>
          </a:bodyPr>
          <a:lstStyle/>
          <a:p>
            <a:pPr>
              <a:spcAft>
                <a:spcPts val="1700"/>
              </a:spcAft>
              <a:defRPr sz="2100">
                <a:solidFill>
                  <a:srgbClr val="232323"/>
                </a:solidFill>
                <a:latin typeface="Arial"/>
              </a:defRPr>
            </a:pPr>
            <a:r>
              <a:t>Some consumer product-related injuries are more serious than others.</a:t>
            </a:r>
          </a:p>
          <a:p>
            <a:pPr>
              <a:spcAft>
                <a:spcPts val="1700"/>
              </a:spcAft>
              <a:defRPr sz="2100">
                <a:solidFill>
                  <a:srgbClr val="232323"/>
                </a:solidFill>
                <a:latin typeface="Arial"/>
              </a:defRPr>
            </a:pPr>
            <a:r>
              <a:t>Safety teams need evidence to understand which cases and groups may need more attention.</a:t>
            </a:r>
          </a:p>
          <a:p>
            <a:pPr>
              <a:spcAft>
                <a:spcPts val="1700"/>
              </a:spcAft>
              <a:defRPr sz="2100">
                <a:solidFill>
                  <a:srgbClr val="232323"/>
                </a:solidFill>
                <a:latin typeface="Arial"/>
              </a:defRPr>
            </a:pPr>
            <a:r>
              <a:t>My question: Can NEISS injury records help identify patterns linked to severe injuries?</a:t>
            </a:r>
          </a:p>
          <a:p>
            <a:pPr>
              <a:spcAft>
                <a:spcPts val="1700"/>
              </a:spcAft>
              <a:defRPr sz="2100">
                <a:solidFill>
                  <a:srgbClr val="232323"/>
                </a:solidFill>
                <a:latin typeface="Arial"/>
              </a:defRPr>
            </a:pPr>
            <a:r>
              <a:t>The data shows injury patterns; it does not prove that a product caused an injury.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6510528"/>
            <a:ext cx="91440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6464"/>
                </a:solidFill>
                <a:latin typeface="Arial"/>
              </a:defRPr>
            </a:pPr>
            <a:r>
              <a:t>Product Safety: What Sends People to the 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92240"/>
            <a:ext cx="5029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46464"/>
                </a:solidFill>
                <a:latin typeface="Arial"/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65760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232323"/>
                </a:solidFill>
                <a:latin typeface="Arial"/>
              </a:defRPr>
            </a:pPr>
            <a:r>
              <a:t>Where did I get the data?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914400"/>
            <a:ext cx="1078992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646464"/>
                </a:solidFill>
                <a:latin typeface="Arial"/>
              </a:defRPr>
            </a:pPr>
            <a:r>
              <a:t>2024 National Electronic Injury Surveillance System (NEISS)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307592"/>
            <a:ext cx="640080" cy="32004"/>
          </a:xfrm>
          <a:prstGeom prst="rect">
            <a:avLst/>
          </a:prstGeom>
          <a:solidFill>
            <a:srgbClr val="3569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22960" y="1691640"/>
            <a:ext cx="10515600" cy="4297680"/>
          </a:xfrm>
          <a:prstGeom prst="rect">
            <a:avLst/>
          </a:prstGeom>
          <a:noFill/>
        </p:spPr>
        <p:txBody>
          <a:bodyPr wrap="square" lIns="45720">
            <a:spAutoFit/>
          </a:bodyPr>
          <a:lstStyle/>
          <a:p>
            <a:pPr>
              <a:spcAft>
                <a:spcPts val="1700"/>
              </a:spcAft>
              <a:defRPr sz="2000">
                <a:solidFill>
                  <a:srgbClr val="232323"/>
                </a:solidFill>
                <a:latin typeface="Arial"/>
              </a:defRPr>
            </a:pPr>
            <a:r>
              <a:t>Source: U.S. Consumer Product Safety Commission (CPSC).</a:t>
            </a:r>
          </a:p>
          <a:p>
            <a:pPr>
              <a:spcAft>
                <a:spcPts val="1700"/>
              </a:spcAft>
              <a:defRPr sz="2000">
                <a:solidFill>
                  <a:srgbClr val="232323"/>
                </a:solidFill>
                <a:latin typeface="Arial"/>
              </a:defRPr>
            </a:pPr>
            <a:r>
              <a:t>The notebook contains 361,672 injury records.</a:t>
            </a:r>
          </a:p>
          <a:p>
            <a:pPr>
              <a:spcAft>
                <a:spcPts val="1700"/>
              </a:spcAft>
              <a:defRPr sz="2000">
                <a:solidFill>
                  <a:srgbClr val="232323"/>
                </a:solidFill>
                <a:latin typeface="Arial"/>
              </a:defRPr>
            </a:pPr>
            <a:r>
              <a:t>Variables include age, sex, product code, diagnosis, body part, disposition, and injury narrative.</a:t>
            </a:r>
          </a:p>
          <a:p>
            <a:pPr>
              <a:spcAft>
                <a:spcPts val="1700"/>
              </a:spcAft>
              <a:defRPr sz="2000">
                <a:solidFill>
                  <a:srgbClr val="232323"/>
                </a:solidFill>
                <a:latin typeface="Arial"/>
              </a:defRPr>
            </a:pPr>
            <a:r>
              <a:t>NEISS is based on a sample of emergency departments, not every injury in the country.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5486400"/>
            <a:ext cx="10241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356991"/>
                </a:solidFill>
                <a:latin typeface="Arial"/>
              </a:defRPr>
            </a:pPr>
            <a:r>
              <a:t>Data source: https://www.cpsc.gov/Research--Statistics/NEISS-Injury-Data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6510528"/>
            <a:ext cx="91440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6464"/>
                </a:solidFill>
                <a:latin typeface="Arial"/>
              </a:defRPr>
            </a:pPr>
            <a:r>
              <a:t>Product Safety: What Sends People to the 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92240"/>
            <a:ext cx="5029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46464"/>
                </a:solidFill>
                <a:latin typeface="Arial"/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65760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232323"/>
                </a:solidFill>
                <a:latin typeface="Arial"/>
              </a:defRPr>
            </a:pPr>
            <a:r>
              <a:t>Data preprocessing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914400"/>
            <a:ext cx="1078992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646464"/>
                </a:solidFill>
                <a:latin typeface="Arial"/>
              </a:defRPr>
            </a:pPr>
            <a:r>
              <a:t>Steps I took before modeling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307592"/>
            <a:ext cx="640080" cy="32004"/>
          </a:xfrm>
          <a:prstGeom prst="rect">
            <a:avLst/>
          </a:prstGeom>
          <a:solidFill>
            <a:srgbClr val="3569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22960" y="1691640"/>
            <a:ext cx="10515600" cy="4297680"/>
          </a:xfrm>
          <a:prstGeom prst="rect">
            <a:avLst/>
          </a:prstGeom>
          <a:noFill/>
        </p:spPr>
        <p:txBody>
          <a:bodyPr wrap="square" lIns="45720">
            <a:spAutoFit/>
          </a:bodyPr>
          <a:lstStyle/>
          <a:p>
            <a:pPr>
              <a:spcAft>
                <a:spcPts val="1700"/>
              </a:spcAft>
              <a:defRPr sz="1900">
                <a:solidFill>
                  <a:srgbClr val="232323"/>
                </a:solidFill>
                <a:latin typeface="Arial"/>
              </a:defRPr>
            </a:pPr>
            <a:r>
              <a:t>Checked the dataset structure, variables, missing values, and duplicate records.</a:t>
            </a:r>
          </a:p>
          <a:p>
            <a:pPr>
              <a:spcAft>
                <a:spcPts val="1700"/>
              </a:spcAft>
              <a:defRPr sz="1900">
                <a:solidFill>
                  <a:srgbClr val="232323"/>
                </a:solidFill>
                <a:latin typeface="Arial"/>
              </a:defRPr>
            </a:pPr>
            <a:r>
              <a:t>Cleaned invalid age values and created age groups.</a:t>
            </a:r>
          </a:p>
          <a:p>
            <a:pPr>
              <a:spcAft>
                <a:spcPts val="1700"/>
              </a:spcAft>
              <a:defRPr sz="1900">
                <a:solidFill>
                  <a:srgbClr val="232323"/>
                </a:solidFill>
                <a:latin typeface="Arial"/>
              </a:defRPr>
            </a:pPr>
            <a:r>
              <a:t>Created Severe_Injury from the Disposition variable.</a:t>
            </a:r>
          </a:p>
          <a:p>
            <a:pPr>
              <a:spcAft>
                <a:spcPts val="1700"/>
              </a:spcAft>
              <a:defRPr sz="1900">
                <a:solidFill>
                  <a:srgbClr val="232323"/>
                </a:solidFill>
                <a:latin typeface="Arial"/>
              </a:defRPr>
            </a:pPr>
            <a:r>
              <a:t>Used 1 for severe (disposition codes 4, 5, and 6) and 0 for the other records.</a:t>
            </a:r>
          </a:p>
          <a:p>
            <a:pPr>
              <a:spcAft>
                <a:spcPts val="1700"/>
              </a:spcAft>
              <a:defRPr sz="1900">
                <a:solidFill>
                  <a:srgbClr val="232323"/>
                </a:solidFill>
                <a:latin typeface="Arial"/>
              </a:defRPr>
            </a:pPr>
            <a:r>
              <a:t>Filled missing age values with the median for model training.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6510528"/>
            <a:ext cx="91440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6464"/>
                </a:solidFill>
                <a:latin typeface="Arial"/>
              </a:defRPr>
            </a:pPr>
            <a:r>
              <a:t>Product Safety: What Sends People to the 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92240"/>
            <a:ext cx="5029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46464"/>
                </a:solidFill>
                <a:latin typeface="Arial"/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65760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232323"/>
                </a:solidFill>
                <a:latin typeface="Arial"/>
              </a:defRPr>
            </a:pPr>
            <a:r>
              <a:t>The target variable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914400"/>
            <a:ext cx="1078992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646464"/>
                </a:solidFill>
                <a:latin typeface="Arial"/>
              </a:defRPr>
            </a:pPr>
            <a:r>
              <a:t>Most records were labeled non-severe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307592"/>
            <a:ext cx="640080" cy="32004"/>
          </a:xfrm>
          <a:prstGeom prst="rect">
            <a:avLst/>
          </a:prstGeom>
          <a:solidFill>
            <a:srgbClr val="3569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960120" y="1691640"/>
          <a:ext cx="6583680" cy="41148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7955279" y="2194560"/>
            <a:ext cx="3200400" cy="2011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232323"/>
                </a:solidFill>
                <a:latin typeface="Arial"/>
              </a:defRPr>
            </a:pPr>
            <a:r>
              <a:t>Severe: 48,823</a:t>
            </a:r>
            <a:br/>
            <a:r>
              <a:t>Non-severe: 312,849</a:t>
            </a:r>
          </a:p>
          <a:p>
            <a:pPr>
              <a:spcBef>
                <a:spcPts val="1500"/>
              </a:spcBef>
              <a:defRPr sz="1600">
                <a:solidFill>
                  <a:srgbClr val="646464"/>
                </a:solidFill>
                <a:latin typeface="Arial"/>
              </a:defRPr>
            </a:pPr>
            <a:r>
              <a:t>The classes are imbalanced, so accuracy alone is not enough.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6510528"/>
            <a:ext cx="91440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6464"/>
                </a:solidFill>
                <a:latin typeface="Arial"/>
              </a:defRPr>
            </a:pPr>
            <a:r>
              <a:t>Product Safety: What Sends People to the 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92240"/>
            <a:ext cx="5029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46464"/>
                </a:solidFill>
                <a:latin typeface="Arial"/>
              </a:defRPr>
            </a:pPr>
            <a: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41148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232323"/>
                </a:solidFill>
                <a:latin typeface="Arial"/>
              </a:defRPr>
            </a:pPr>
            <a:r>
              <a:t>How I used both models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1051560"/>
            <a:ext cx="108813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505050"/>
                </a:solidFill>
                <a:latin typeface="Arial"/>
              </a:defRPr>
            </a:pPr>
            <a:r>
              <a:t>I trained and tested both models on the same data so I could compare their results.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828800"/>
            <a:ext cx="516636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1">
                <a:solidFill>
                  <a:srgbClr val="232323"/>
                </a:solidFill>
                <a:latin typeface="Arial"/>
              </a:defRPr>
            </a:pPr>
            <a:r>
              <a:t>Logistic Regression</a:t>
            </a:r>
          </a:p>
          <a:p>
            <a:pPr>
              <a:spcAft>
                <a:spcPts val="1200"/>
              </a:spcAft>
              <a:defRPr sz="1600">
                <a:solidFill>
                  <a:srgbClr val="2D2D2D"/>
                </a:solidFill>
                <a:latin typeface="Arial"/>
              </a:defRPr>
            </a:pPr>
            <a:r>
              <a:t>• I used it as my starting model because it is a common, easier-to-understand classifier.</a:t>
            </a:r>
          </a:p>
          <a:p>
            <a:pPr>
              <a:spcAft>
                <a:spcPts val="1200"/>
              </a:spcAft>
              <a:defRPr sz="1600">
                <a:solidFill>
                  <a:srgbClr val="2D2D2D"/>
                </a:solidFill>
                <a:latin typeface="Arial"/>
              </a:defRPr>
            </a:pPr>
            <a:r>
              <a:t>• It estimated whether each injury record was severe or non-severe using the selected patient, injury, product, and incident details.</a:t>
            </a:r>
          </a:p>
          <a:p>
            <a:pPr>
              <a:spcAft>
                <a:spcPts val="1200"/>
              </a:spcAft>
              <a:defRPr sz="1600">
                <a:solidFill>
                  <a:srgbClr val="2D2D2D"/>
                </a:solidFill>
                <a:latin typeface="Arial"/>
              </a:defRPr>
            </a:pPr>
            <a:r>
              <a:t>• I paid attention to recall because finding more severe cases was important for this project.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63640" y="1828800"/>
            <a:ext cx="516636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1">
                <a:solidFill>
                  <a:srgbClr val="232323"/>
                </a:solidFill>
                <a:latin typeface="Arial"/>
              </a:defRPr>
            </a:pPr>
            <a:r>
              <a:t>Random Forest</a:t>
            </a:r>
          </a:p>
          <a:p>
            <a:pPr>
              <a:spcAft>
                <a:spcPts val="1200"/>
              </a:spcAft>
              <a:defRPr sz="1600">
                <a:solidFill>
                  <a:srgbClr val="2D2D2D"/>
                </a:solidFill>
                <a:latin typeface="Arial"/>
              </a:defRPr>
            </a:pPr>
            <a:r>
              <a:t>• I trained it as a second model to compare with Logistic Regression.</a:t>
            </a:r>
          </a:p>
          <a:p>
            <a:pPr>
              <a:spcAft>
                <a:spcPts val="1200"/>
              </a:spcAft>
              <a:defRPr sz="1600">
                <a:solidFill>
                  <a:srgbClr val="2D2D2D"/>
                </a:solidFill>
                <a:latin typeface="Arial"/>
              </a:defRPr>
            </a:pPr>
            <a:r>
              <a:t>• It combines many decision trees, allowing it to learn more complicated patterns in the data.</a:t>
            </a:r>
          </a:p>
          <a:p>
            <a:pPr>
              <a:spcAft>
                <a:spcPts val="1200"/>
              </a:spcAft>
              <a:defRPr sz="1600">
                <a:solidFill>
                  <a:srgbClr val="2D2D2D"/>
                </a:solidFill>
                <a:latin typeface="Arial"/>
              </a:defRPr>
            </a:pPr>
            <a:r>
              <a:t>• I compared its test results with Logistic Regression using the same evaluation measures.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03520"/>
            <a:ext cx="10789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505050"/>
                </a:solidFill>
                <a:latin typeface="Arial"/>
              </a:defRPr>
            </a:pPr>
            <a:r>
              <a:t>For both models: 80% training data • 20% testing data • class imbalance was taken into account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65760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232323"/>
                </a:solidFill>
                <a:latin typeface="Arial"/>
              </a:defRPr>
            </a:pPr>
            <a:r>
              <a:t>The two models I used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914400"/>
            <a:ext cx="1078992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646464"/>
                </a:solidFill>
                <a:latin typeface="Arial"/>
              </a:defRPr>
            </a:pPr>
            <a:r>
              <a:t>Both models classify records as severe or non-severe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307592"/>
            <a:ext cx="640080" cy="32004"/>
          </a:xfrm>
          <a:prstGeom prst="rect">
            <a:avLst/>
          </a:prstGeom>
          <a:solidFill>
            <a:srgbClr val="3569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22960" y="1691640"/>
            <a:ext cx="10515600" cy="4297680"/>
          </a:xfrm>
          <a:prstGeom prst="rect">
            <a:avLst/>
          </a:prstGeom>
          <a:noFill/>
        </p:spPr>
        <p:txBody>
          <a:bodyPr wrap="square" lIns="45720">
            <a:spAutoFit/>
          </a:bodyPr>
          <a:lstStyle/>
          <a:p>
            <a:pPr>
              <a:spcAft>
                <a:spcPts val="1700"/>
              </a:spcAft>
              <a:defRPr sz="2000">
                <a:solidFill>
                  <a:srgbClr val="232323"/>
                </a:solidFill>
                <a:latin typeface="Arial"/>
              </a:defRPr>
            </a:pPr>
            <a:r>
              <a:t>Logistic Regression: a common baseline model that estimates the chance of a severe outcome.</a:t>
            </a:r>
          </a:p>
          <a:p>
            <a:pPr>
              <a:spcAft>
                <a:spcPts val="1700"/>
              </a:spcAft>
              <a:defRPr sz="2000">
                <a:solidFill>
                  <a:srgbClr val="232323"/>
                </a:solidFill>
                <a:latin typeface="Arial"/>
              </a:defRPr>
            </a:pPr>
            <a:r>
              <a:t>Random Forest: combines many decision trees and can learn more complex patterns.</a:t>
            </a:r>
          </a:p>
          <a:p>
            <a:pPr>
              <a:spcAft>
                <a:spcPts val="1700"/>
              </a:spcAft>
              <a:defRPr sz="2000">
                <a:solidFill>
                  <a:srgbClr val="232323"/>
                </a:solidFill>
                <a:latin typeface="Arial"/>
              </a:defRPr>
            </a:pPr>
            <a:r>
              <a:t>I used an 80% training set and a 20% test set.</a:t>
            </a:r>
          </a:p>
          <a:p>
            <a:pPr>
              <a:spcAft>
                <a:spcPts val="1700"/>
              </a:spcAft>
              <a:defRPr sz="2000">
                <a:solidFill>
                  <a:srgbClr val="232323"/>
                </a:solidFill>
                <a:latin typeface="Arial"/>
              </a:defRPr>
            </a:pPr>
            <a:r>
              <a:t>I compared accuracy, precision, recall, F1-score, and ROC-AUC.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6510528"/>
            <a:ext cx="91440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6464"/>
                </a:solidFill>
                <a:latin typeface="Arial"/>
              </a:defRPr>
            </a:pPr>
            <a:r>
              <a:t>Product Safety: What Sends People to the 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92240"/>
            <a:ext cx="5029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46464"/>
                </a:solidFill>
                <a:latin typeface="Arial"/>
              </a:defRPr>
            </a:pPr>
            <a:r>
              <a:t>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65760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232323"/>
                </a:solidFill>
                <a:latin typeface="Arial"/>
              </a:defRPr>
            </a:pPr>
            <a:r>
              <a:t>Comparing the two models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914400"/>
            <a:ext cx="1078992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646464"/>
                </a:solidFill>
                <a:latin typeface="Arial"/>
              </a:defRPr>
            </a:pPr>
            <a:r>
              <a:t>Recall is especially important for this project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307592"/>
            <a:ext cx="640080" cy="32004"/>
          </a:xfrm>
          <a:prstGeom prst="rect">
            <a:avLst/>
          </a:prstGeom>
          <a:solidFill>
            <a:srgbClr val="3569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731520" y="1645920"/>
          <a:ext cx="10698480" cy="43891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58368" y="6510528"/>
            <a:ext cx="91440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6464"/>
                </a:solidFill>
                <a:latin typeface="Arial"/>
              </a:defRPr>
            </a:pPr>
            <a:r>
              <a:t>Product Safety: What Sends People to the 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92240"/>
            <a:ext cx="5029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46464"/>
                </a:solidFill>
                <a:latin typeface="Arial"/>
              </a:defRPr>
            </a:pPr>
            <a:r>
              <a:t>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65760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232323"/>
                </a:solidFill>
                <a:latin typeface="Arial"/>
              </a:defRPr>
            </a:pPr>
            <a:r>
              <a:t>Which model is better for my goal?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914400"/>
            <a:ext cx="1078992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646464"/>
                </a:solidFill>
                <a:latin typeface="Arial"/>
              </a:defRPr>
            </a:pPr>
            <a:r>
              <a:t>It depends on what we want the model to do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307592"/>
            <a:ext cx="640080" cy="32004"/>
          </a:xfrm>
          <a:prstGeom prst="rect">
            <a:avLst/>
          </a:prstGeom>
          <a:solidFill>
            <a:srgbClr val="3569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22960" y="1691640"/>
            <a:ext cx="10515600" cy="4297680"/>
          </a:xfrm>
          <a:prstGeom prst="rect">
            <a:avLst/>
          </a:prstGeom>
          <a:noFill/>
        </p:spPr>
        <p:txBody>
          <a:bodyPr wrap="square" lIns="45720">
            <a:spAutoFit/>
          </a:bodyPr>
          <a:lstStyle/>
          <a:p>
            <a:pPr>
              <a:spcAft>
                <a:spcPts val="1700"/>
              </a:spcAft>
              <a:defRPr sz="2000">
                <a:solidFill>
                  <a:srgbClr val="232323"/>
                </a:solidFill>
                <a:latin typeface="Arial"/>
              </a:defRPr>
            </a:pPr>
            <a:r>
              <a:t>Logistic Regression recall: about 70%.</a:t>
            </a:r>
          </a:p>
          <a:p>
            <a:pPr>
              <a:spcAft>
                <a:spcPts val="1700"/>
              </a:spcAft>
              <a:defRPr sz="2000">
                <a:solidFill>
                  <a:srgbClr val="232323"/>
                </a:solidFill>
                <a:latin typeface="Arial"/>
              </a:defRPr>
            </a:pPr>
            <a:r>
              <a:t>Random Forest recall: about 37%.</a:t>
            </a:r>
          </a:p>
          <a:p>
            <a:pPr>
              <a:spcAft>
                <a:spcPts val="1700"/>
              </a:spcAft>
              <a:defRPr sz="2000">
                <a:solidFill>
                  <a:srgbClr val="232323"/>
                </a:solidFill>
                <a:latin typeface="Arial"/>
              </a:defRPr>
            </a:pPr>
            <a:r>
              <a:t>Recall tells us how many of the actual severe cases the model finds.</a:t>
            </a:r>
          </a:p>
          <a:p>
            <a:pPr>
              <a:spcAft>
                <a:spcPts val="1700"/>
              </a:spcAft>
              <a:defRPr sz="2000">
                <a:solidFill>
                  <a:srgbClr val="232323"/>
                </a:solidFill>
                <a:latin typeface="Arial"/>
              </a:defRPr>
            </a:pPr>
            <a:r>
              <a:t>I chose Logistic Regression for this project because I wanted to catch more severe cases.</a:t>
            </a:r>
          </a:p>
          <a:p>
            <a:pPr>
              <a:spcAft>
                <a:spcPts val="1700"/>
              </a:spcAft>
              <a:defRPr sz="2000">
                <a:solidFill>
                  <a:srgbClr val="232323"/>
                </a:solidFill>
                <a:latin typeface="Arial"/>
              </a:defRPr>
            </a:pPr>
            <a:r>
              <a:t>Trade-off: Logistic Regression has lower precision, so it produces more false alarms.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6510528"/>
            <a:ext cx="91440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6464"/>
                </a:solidFill>
                <a:latin typeface="Arial"/>
              </a:defRPr>
            </a:pPr>
            <a:r>
              <a:t>Product Safety: What Sends People to the 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92240"/>
            <a:ext cx="5029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46464"/>
                </a:solidFill>
                <a:latin typeface="Arial"/>
              </a:defRPr>
            </a:pPr>
            <a:r>
              <a:t>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65760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232323"/>
                </a:solidFill>
                <a:latin typeface="Arial"/>
              </a:defRPr>
            </a:pPr>
            <a:r>
              <a:t>Main finding: older adults had the highest rate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914400"/>
            <a:ext cx="1078992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646464"/>
                </a:solidFill>
                <a:latin typeface="Arial"/>
              </a:defRPr>
            </a:pPr>
            <a:r>
              <a:t>Redesigned chart from my Week 5 assignment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307592"/>
            <a:ext cx="640080" cy="32004"/>
          </a:xfrm>
          <a:prstGeom prst="rect">
            <a:avLst/>
          </a:prstGeom>
          <a:solidFill>
            <a:srgbClr val="3569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age_chart_redesign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5840" y="1554480"/>
            <a:ext cx="7772400" cy="4272493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961120" y="2331720"/>
            <a:ext cx="22860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232323"/>
                </a:solidFill>
                <a:latin typeface="Arial"/>
              </a:defRPr>
            </a:pPr>
            <a:r>
              <a:t>What I found</a:t>
            </a:r>
          </a:p>
          <a:p>
            <a:pPr>
              <a:spcBef>
                <a:spcPts val="1000"/>
              </a:spcBef>
              <a:defRPr sz="1600">
                <a:solidFill>
                  <a:srgbClr val="232323"/>
                </a:solidFill>
                <a:latin typeface="Arial"/>
              </a:defRPr>
            </a:pPr>
            <a:r>
              <a:t>The older-adult group (55+) had the highest observed severe-injury rate.</a:t>
            </a:r>
          </a:p>
          <a:p>
            <a:pPr>
              <a:spcBef>
                <a:spcPts val="1000"/>
              </a:spcBef>
              <a:defRPr sz="1200">
                <a:solidFill>
                  <a:srgbClr val="646464"/>
                </a:solidFill>
                <a:latin typeface="Arial"/>
              </a:defRPr>
            </a:pPr>
            <a:r>
              <a:t>The analysis did not use NEISS statistical weights.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6510528"/>
            <a:ext cx="91440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6464"/>
                </a:solidFill>
                <a:latin typeface="Arial"/>
              </a:defRPr>
            </a:pPr>
            <a:r>
              <a:t>Product Safety: What Sends People to the 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92240"/>
            <a:ext cx="5029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46464"/>
                </a:solidFill>
                <a:latin typeface="Arial"/>
              </a:defRPr>
            </a:pPr>
            <a:r>
              <a:t>10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65760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232323"/>
                </a:solidFill>
                <a:latin typeface="Arial"/>
              </a:defRPr>
            </a:pPr>
            <a:r>
              <a:t>Limitations and 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914400"/>
            <a:ext cx="1078992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646464"/>
                </a:solidFill>
                <a:latin typeface="Arial"/>
              </a:defRPr>
            </a:pPr>
            <a:r>
              <a:t>What I learned from this project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307592"/>
            <a:ext cx="640080" cy="32004"/>
          </a:xfrm>
          <a:prstGeom prst="rect">
            <a:avLst/>
          </a:prstGeom>
          <a:solidFill>
            <a:srgbClr val="3569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22960" y="1691640"/>
            <a:ext cx="10515600" cy="4297680"/>
          </a:xfrm>
          <a:prstGeom prst="rect">
            <a:avLst/>
          </a:prstGeom>
          <a:noFill/>
        </p:spPr>
        <p:txBody>
          <a:bodyPr wrap="square" lIns="45720">
            <a:spAutoFit/>
          </a:bodyPr>
          <a:lstStyle/>
          <a:p>
            <a:pPr>
              <a:spcAft>
                <a:spcPts val="1700"/>
              </a:spcAft>
              <a:defRPr sz="1800">
                <a:solidFill>
                  <a:srgbClr val="232323"/>
                </a:solidFill>
                <a:latin typeface="Arial"/>
              </a:defRPr>
            </a:pPr>
            <a:r>
              <a:t>The age-group rates need to be checked using NEISS statistical weights.</a:t>
            </a:r>
          </a:p>
          <a:p>
            <a:pPr>
              <a:spcAft>
                <a:spcPts val="1700"/>
              </a:spcAft>
              <a:defRPr sz="1800">
                <a:solidFill>
                  <a:srgbClr val="232323"/>
                </a:solidFill>
                <a:latin typeface="Arial"/>
              </a:defRPr>
            </a:pPr>
            <a:r>
              <a:t>The data does not show how many people use each product, so I cannot call one product the most dangerous.</a:t>
            </a:r>
          </a:p>
          <a:p>
            <a:pPr>
              <a:spcAft>
                <a:spcPts val="1700"/>
              </a:spcAft>
              <a:defRPr sz="1800">
                <a:solidFill>
                  <a:srgbClr val="232323"/>
                </a:solidFill>
                <a:latin typeface="Arial"/>
              </a:defRPr>
            </a:pPr>
            <a:r>
              <a:t>The results show an association, not proof that age causes severe injury.</a:t>
            </a:r>
          </a:p>
          <a:p>
            <a:pPr>
              <a:spcAft>
                <a:spcPts val="1700"/>
              </a:spcAft>
              <a:defRPr sz="1800">
                <a:solidFill>
                  <a:srgbClr val="232323"/>
                </a:solidFill>
                <a:latin typeface="Arial"/>
              </a:defRPr>
            </a:pPr>
            <a:r>
              <a:t>Next, I would improve categorical preprocessing, validate the models, and explore narrative text features.</a:t>
            </a:r>
          </a:p>
          <a:p>
            <a:pPr>
              <a:spcAft>
                <a:spcPts val="1700"/>
              </a:spcAft>
              <a:defRPr sz="1800">
                <a:solidFill>
                  <a:srgbClr val="232323"/>
                </a:solidFill>
                <a:latin typeface="Arial"/>
              </a:defRPr>
            </a:pPr>
            <a:r>
              <a:t>Overall, the results suggest that older adults deserve attention in further injury-prevention research.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6510528"/>
            <a:ext cx="91440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6464"/>
                </a:solidFill>
                <a:latin typeface="Arial"/>
              </a:defRPr>
            </a:pPr>
            <a:r>
              <a:t>Product Safety: What Sends People to the 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92240"/>
            <a:ext cx="5029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46464"/>
                </a:solidFill>
                <a:latin typeface="Arial"/>
              </a:defRPr>
            </a:pPr>
            <a:r>
              <a:t>11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65760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232323"/>
                </a:solidFill>
                <a:latin typeface="Arial"/>
              </a:defRPr>
            </a:pPr>
            <a:r>
              <a:t>Appendix: chart before and after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914400"/>
            <a:ext cx="1078992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646464"/>
                </a:solidFill>
                <a:latin typeface="Arial"/>
              </a:defRPr>
            </a:pPr>
            <a:r>
              <a:t>Week 5 chart redesign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307592"/>
            <a:ext cx="640080" cy="32004"/>
          </a:xfrm>
          <a:prstGeom prst="rect">
            <a:avLst/>
          </a:prstGeom>
          <a:solidFill>
            <a:srgbClr val="3569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age_chart_origin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1691640"/>
            <a:ext cx="5212080" cy="4083896"/>
          </a:xfrm>
          <a:prstGeom prst="rect">
            <a:avLst/>
          </a:prstGeom>
        </p:spPr>
      </p:pic>
      <p:pic>
        <p:nvPicPr>
          <p:cNvPr id="6" name="Picture 5" descr="age_chart_redesign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17920" y="1691640"/>
            <a:ext cx="5212080" cy="2865083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371600" y="5532120"/>
            <a:ext cx="3931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646464"/>
                </a:solidFill>
                <a:latin typeface="Arial"/>
              </a:defRPr>
            </a:pPr>
            <a:r>
              <a:t>Original chart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766560" y="5532120"/>
            <a:ext cx="3931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646464"/>
                </a:solidFill>
                <a:latin typeface="Arial"/>
              </a:defRPr>
            </a:pPr>
            <a:r>
              <a:t>Redesigned chart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6510528"/>
            <a:ext cx="91440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6464"/>
                </a:solidFill>
                <a:latin typeface="Arial"/>
              </a:defRPr>
            </a:pPr>
            <a:r>
              <a:t>Product Safety: What Sends People to the 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0" y="6492240"/>
            <a:ext cx="5029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46464"/>
                </a:solidFill>
                <a:latin typeface="Arial"/>
              </a:defRPr>
            </a:pPr>
            <a:r>
              <a:t>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1100</Words>
  <Application>Microsoft Office PowerPoint</Application>
  <PresentationFormat>Widescreen</PresentationFormat>
  <Paragraphs>113</Paragraphs>
  <Slides>13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Rohith varma Yarramshetty</cp:lastModifiedBy>
  <cp:revision>1</cp:revision>
  <dcterms:created xsi:type="dcterms:W3CDTF">2013-01-27T09:14:16Z</dcterms:created>
  <dcterms:modified xsi:type="dcterms:W3CDTF">2026-10-15T23:29:02Z</dcterms:modified>
  <cp:category/>
</cp:coreProperties>
</file>